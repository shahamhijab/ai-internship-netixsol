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8FAFD"/>
                </a:solidFill>
              </a:defRPr>
            </a:pPr>
            <a:r>
              <a:t>NRP: AI-Powered</a:t>
            </a:r>
            <a:br/>
            <a:r>
              <a:t>Real Estate Voice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2EAF5"/>
                </a:solidFill>
              </a:defRPr>
            </a:pPr>
            <a:r>
              <a:t>Intelligent Voice-Based Customer Assistant for Pakistani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3BEDC"/>
                </a:solidFill>
              </a:defRPr>
            </a:pPr>
            <a:r>
              <a:t>FastAPI  •  LangGraph  •  Gemini  •  Deepgram  •  TTS  •  n8n  •  Google Calendar  •  Gmail  •  CRM  • 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83280" cy="42976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VOICE-FIRST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3017520" cy="3520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Understands spoken customer queries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Urdu and UrduLish conversations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Natural conversational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383280" cy="42976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57400"/>
            <a:ext cx="3017520" cy="3520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Intent detection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Property Q&amp;A and recommendations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Context, memory and objection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42976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81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57400"/>
            <a:ext cx="3017520" cy="3520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Book, reschedule and cancel appointments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Calendar, Gmail and CRM workflows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Connect conversations to business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03520" cy="448056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CURRENT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4937759" cy="3703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Natural Urdu/UrduLish conversations are difficult to automate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Repetitive customer questions consume staff time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Appointment scheduling is slow and manual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Conversation context is easily lost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Follow-ups and business tools are disconnected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257800" cy="448056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490472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65960"/>
            <a:ext cx="4892040" cy="3703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Create a conversational AI agent that communicates naturally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Understand customer needs and maintain context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Automate property assistance and operational workflows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Turn a conversation into a completed business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0AEC3"/>
                </a:solidFill>
              </a:defRPr>
            </a:pPr>
            <a:r>
              <a:t>Voice-first conversational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Voice Input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30552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Speech-to-Text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47872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58184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Intent &amp; Context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75504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5816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Property / RAG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03136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13448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Response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30768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Business Action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058400" y="2816352"/>
            <a:ext cx="210312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68712" y="2331720"/>
            <a:ext cx="141732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D"/>
                </a:solidFill>
              </a:defRPr>
            </a:pPr>
            <a:r>
              <a:t>TTS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605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8FAFD"/>
                </a:solidFill>
              </a:defRPr>
            </a:pPr>
            <a:r>
              <a:t>Customer speaks naturally → AI understands → AI reasons → business action happens automatically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560320"/>
            <a:ext cx="1143000" cy="68580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417320"/>
            <a:ext cx="1325880" cy="6858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Voice 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560320"/>
            <a:ext cx="1325880" cy="68580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Deepgram STT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703320"/>
            <a:ext cx="1325880" cy="6858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FastAPI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560320"/>
            <a:ext cx="146304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LangGraph</a:t>
            </a:r>
            <a:br/>
            <a: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234440"/>
            <a:ext cx="1417320" cy="77724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Gemini</a:t>
            </a:r>
            <a:br/>
            <a:r>
              <a:t>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423160"/>
            <a:ext cx="1417320" cy="77724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Memory /</a:t>
            </a:r>
            <a:br/>
            <a:r>
              <a:t>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611880"/>
            <a:ext cx="1417320" cy="77724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RAG /</a:t>
            </a:r>
            <a:br/>
            <a:r>
              <a:t>Property Retrieval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514600"/>
            <a:ext cx="1508760" cy="82296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Business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0" y="1325880"/>
            <a:ext cx="1143000" cy="64008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Calendar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423160"/>
            <a:ext cx="1143000" cy="64008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Gmail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3520440"/>
            <a:ext cx="1143000" cy="64008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CRM / n8n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709160"/>
            <a:ext cx="1508760" cy="73152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TTS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4709160"/>
            <a:ext cx="1143000" cy="73152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Voice Response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737360" y="2907792"/>
            <a:ext cx="18288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46120" y="2907792"/>
            <a:ext cx="64008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349240" y="1627632"/>
            <a:ext cx="731520" cy="128016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349240" y="2816352"/>
            <a:ext cx="731520" cy="9144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49240" y="2907792"/>
            <a:ext cx="731520" cy="109728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1627632"/>
            <a:ext cx="731521" cy="1298448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98079" y="2816352"/>
            <a:ext cx="731521" cy="109728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98079" y="2926080"/>
            <a:ext cx="731521" cy="1078992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738360" y="1645920"/>
            <a:ext cx="502920" cy="128016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738360" y="2743200"/>
            <a:ext cx="502920" cy="18288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38360" y="2926080"/>
            <a:ext cx="502920" cy="91440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38360" y="3337560"/>
            <a:ext cx="0" cy="137160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738360" y="5074920"/>
            <a:ext cx="50292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AI Agent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01  Speech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Deepgram converts Urdu/UrduLish speech into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8" y="139903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02  Intent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874519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Gemini identifies property, appointment, follow-up and other intents.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7" y="281635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03  Context &amp;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29184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Conversation context and customer information maintain continuity.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5176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281635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04  Property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29184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Relevant property information is retrieved when required.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7" y="42336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05  Response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70916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Gemini produces a natural conversational response.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06908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8" y="423367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06  Business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70916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The agent triggers booking, CRM or workflow actions.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86400"/>
            <a:ext cx="5166360" cy="11430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5650992"/>
            <a:ext cx="4800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07  Text-to-Speech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6126480"/>
            <a:ext cx="4800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The final response is converted back into spoken audio.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Main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5262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VOICE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310896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Natural voice conversations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Urdu / UrduLish support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Speech-to-text and text-to-speech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45262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INTELLIGENT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0896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Intent detection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Context-aware responses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Follow-up questions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Objection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74720" cy="45262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490472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REAL ESTATE +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965960"/>
            <a:ext cx="3108960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Property Q&amp;A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Property recommendations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Customer requirements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Appointment + Calendar + CRM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Core application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74519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Backend /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23444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39903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LangGraph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74519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AI agent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46888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2633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Google 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10896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LLM reasoning and intent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46888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44568" y="2633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Deepgram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10896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Speech-to-text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46888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47888" y="2633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Fish Audio / TTS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310896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Text-to-speech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0332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7" y="3867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n8n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434340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Workflow automation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70332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4568" y="3867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Google Calendar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4568" y="434340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Appointment management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19" y="370332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47888" y="3867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7888" y="434340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Automated email workflows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3776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7" y="5102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CRM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557784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Customer / business data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4937760"/>
            <a:ext cx="3383280" cy="960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5102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Docker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5577840"/>
            <a:ext cx="301752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Containerization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Reliability &amp; Fallback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4389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54864" cy="438912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4904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GEMINI RELIABILITY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965960"/>
            <a:ext cx="4937759" cy="3611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Multiple Gemini API keys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Automatic key rotation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Retry mechanism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Local intent-detection fallback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Helps prevent total agent failure during transient API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438912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54864" cy="438912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4807" y="149047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SPEECH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1965960"/>
            <a:ext cx="4937759" cy="36118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Deepgram handles transcription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Urdu-focused transcription handling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Designed for Urdu/UrduLish conversational input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TTS layer remains independently replaceable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978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0AEC3"/>
                </a:solidFill>
              </a:defRPr>
            </a:pPr>
            <a:r>
              <a:t>Example external failure: Gemini HTTP 503 — Service Unavailable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n8n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0AEC3"/>
                </a:solidFill>
              </a:defRPr>
            </a:pPr>
            <a:r>
              <a:t>Connecting conversation to real business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AI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Customer requests</a:t>
            </a:r>
            <a:br/>
            <a:r>
              <a:t>appointment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n8n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Check Calendar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Update CRM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2423160"/>
            <a:ext cx="141732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D"/>
                </a:solidFill>
              </a:defRPr>
            </a:pPr>
            <a:r>
              <a:t>Confirmation Email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57400" y="2880360"/>
            <a:ext cx="36576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2880360"/>
            <a:ext cx="73152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989320" y="2880360"/>
            <a:ext cx="68580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092440" y="2880360"/>
            <a:ext cx="32004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29800" y="2880360"/>
            <a:ext cx="18288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20240" y="4160520"/>
            <a:ext cx="8138160" cy="105156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40" y="4160520"/>
            <a:ext cx="54864" cy="105156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21408" y="4325112"/>
            <a:ext cx="7772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4800600"/>
            <a:ext cx="7772400" cy="2743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The AI agent does not stop at conversation — it can trigger calendar, CRM and email actions through an automation layer.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Example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0AEC3"/>
                </a:solidFill>
              </a:defRPr>
            </a:pPr>
            <a:r>
              <a:t>Urdu voice interaction → reasoning → business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4864" cy="452628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399032"/>
            <a:ext cx="493775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CUSTOMER ↔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74519"/>
            <a:ext cx="4937759" cy="3749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Customer: "مجھے اسلام آباد میں 10 مرلے کا گھر چاہیے۔"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Agent: "ضرور۔ آپ کا بجٹ تقریباً کتنا ہے؟"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Customer: "تقریباً 3 کروڑ۔"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Agent: "میں آپ کے بجٹ اور requirement کے مطابق properties دیکھتا ہوں۔"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Customer: "مجھے property دیکھنے کے لیے appointment بھی چاہیے۔"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Agent: "ضرور۔ میں available appointment slots check کرتا ہوں۔"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1508760" cy="82296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D"/>
                </a:solidFill>
              </a:defRPr>
            </a:pPr>
            <a:r>
              <a:t>VOICE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046720" y="1920240"/>
            <a:ext cx="59436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41080" y="1508760"/>
            <a:ext cx="1508760" cy="82296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D"/>
                </a:solidFill>
              </a:defRPr>
            </a:pPr>
            <a:r>
              <a:t>AI AGENT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90888" y="2331720"/>
            <a:ext cx="0" cy="64008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641080" y="2971800"/>
            <a:ext cx="1508760" cy="822960"/>
          </a:xfrm>
          <a:prstGeom prst="roundRect">
            <a:avLst/>
          </a:prstGeom>
          <a:solidFill>
            <a:srgbClr val="142239"/>
          </a:solidFill>
          <a:ln>
            <a:solidFill>
              <a:srgbClr val="33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D"/>
                </a:solidFill>
              </a:defRPr>
            </a:pPr>
            <a:r>
              <a:t>n8n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046720" y="3383280"/>
            <a:ext cx="594360" cy="0"/>
          </a:xfrm>
          <a:prstGeom prst="line">
            <a:avLst/>
          </a:prstGeom>
          <a:ln w="22860">
            <a:solidFill>
              <a:srgbClr val="33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537960" y="2971800"/>
            <a:ext cx="1508760" cy="822960"/>
          </a:xfrm>
          <a:prstGeom prst="roundRect">
            <a:avLst/>
          </a:prstGeom>
          <a:solidFill>
            <a:srgbClr val="142239"/>
          </a:solidFill>
          <a:ln>
            <a:solidFill>
              <a:srgbClr val="266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D"/>
                </a:solidFill>
              </a:defRPr>
            </a:pPr>
            <a:r>
              <a:t>CALENDAR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43400"/>
            <a:ext cx="3840480" cy="105156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4343400"/>
            <a:ext cx="54864" cy="105156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01968" y="4507992"/>
            <a:ext cx="3474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983480"/>
            <a:ext cx="3474720" cy="27431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Appointment availability is checked and the customer receives confirmation.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Current Development Status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6492240" cy="47548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54864" cy="475488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61264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6126479" cy="3977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FastAPI backend and voice processing pipeline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Deepgram transcription + Gemini reasoning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LangGraph agent workflow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Gemini API key rotation + local intent fallback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n8n automation integration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Calendar / Gmail workflow integration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Docker-based deployment structure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Urdu / UrduLish conversation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234440"/>
            <a:ext cx="4114800" cy="475488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06640" y="1234440"/>
            <a:ext cx="54864" cy="475488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07808" y="1399032"/>
            <a:ext cx="374903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CURRENT INTEGRATION ISSUE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1874519"/>
            <a:ext cx="3749039" cy="3977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Fish Audio platform API is currently returning HTTP 418</a:t>
            </a:r>
          </a:p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• TTS layer therefore needs further integration or fallback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Challenges &amp;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Gemini API 503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234440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26280" y="1234440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399032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Multiple keys + retry + local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01952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066544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Urdu / UrduLish recognition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01952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901952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27448" y="2066544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Deepgram Urdu-focused transcription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69464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569464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2734056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Maintaining context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569464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280" y="2569464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27448" y="2734056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Agent memory / profile handling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36976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236976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340156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Business automation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236976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26280" y="3236976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27448" y="3401568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n8n workflows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04487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904487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069079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Appointment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6280" y="3904487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26280" y="3904487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27448" y="4069079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Google Calendar integration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572000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4572000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" y="4736592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Multiple services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26280" y="4572000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26280" y="4572000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727448" y="4736592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Dockerized architecture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239512"/>
            <a:ext cx="365760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5239512"/>
            <a:ext cx="54864" cy="530352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" y="5404104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TTS availability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80" y="5239512"/>
            <a:ext cx="6995160" cy="530352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26280" y="5239512"/>
            <a:ext cx="54864" cy="530352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27448" y="5404104"/>
            <a:ext cx="6629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TTS fallback / integration work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D"/>
                </a:solidFill>
              </a:defRPr>
            </a:pPr>
            <a:r>
              <a:t>Future Improvements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More robust TTS provider /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54864" cy="91440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6596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Improved Urdu/UrduLish speech 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32588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3608" y="149047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6596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Larger property knowledge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6032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256032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2724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20040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More advanced property filtering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56032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2560320"/>
            <a:ext cx="54864" cy="91440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90288" y="2724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20040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Better customer-profile extraction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56032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256032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93608" y="272491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20040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Production-grade monitoring and logging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9476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379476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43484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Authentication and security hardening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79476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3794760"/>
            <a:ext cx="54864" cy="914400"/>
          </a:xfrm>
          <a:prstGeom prst="rect">
            <a:avLst/>
          </a:prstGeom>
          <a:solidFill>
            <a:srgbClr val="33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90288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43484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More CRM integrations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794760"/>
            <a:ext cx="3383280" cy="9144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92440" y="3794760"/>
            <a:ext cx="54864" cy="9144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93608" y="3959352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93608" y="4434840"/>
            <a:ext cx="3017520" cy="137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Analytics dashboard for customer interactions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66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8FAFD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0332720" cy="1828800"/>
          </a:xfrm>
          <a:prstGeom prst="roundRect">
            <a:avLst/>
          </a:prstGeom>
          <a:solidFill>
            <a:srgbClr val="142239"/>
          </a:solidFill>
          <a:ln>
            <a:solidFill>
              <a:srgbClr val="273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1993392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D"/>
                </a:solidFill>
              </a:defRPr>
            </a:pPr>
            <a:r>
              <a:t>NRP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468880"/>
            <a:ext cx="9966960" cy="1051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1150">
                <a:solidFill>
                  <a:srgbClr val="E2EAF5"/>
                </a:solidFill>
              </a:defRPr>
            </a:pPr>
            <a:r>
              <a:t>Brings conversational AI, voice processing, property retrieval, memory, and business automation into a single real-estate assistant for Urdu/UrduLish customer interactions.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519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33BEDC"/>
                </a:solidFill>
              </a:defRPr>
            </a:pPr>
            <a:r>
              <a:t>“Talk naturally → AI understands → AI reasons → Business action happens automatically.”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EC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869</Words>
  <Application>Microsoft Office PowerPoint</Application>
  <PresentationFormat>Widescreen</PresentationFormat>
  <Paragraphs>210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22-NTU-CS-1373</cp:lastModifiedBy>
  <cp:revision>2</cp:revision>
  <dcterms:created xsi:type="dcterms:W3CDTF">2013-01-27T09:14:16Z</dcterms:created>
  <dcterms:modified xsi:type="dcterms:W3CDTF">2026-09-29T16:01:39Z</dcterms:modified>
  <cp:category/>
</cp:coreProperties>
</file>