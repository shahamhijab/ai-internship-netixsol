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CAPSTONE · STAKEHOLDER DEMO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NRP Line: AI Voice Agent for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Overseas Pakistani Real Estate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947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UrduLish conversation · grounded recommendations · automated booking, for buyers who invest without ever visiting in person.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Overseas buyers need a different sales motion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332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 inbound calls a day; hiring agents for every one is expensive and inconsistent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NRP clients never physically visit — trust, distance, and currency are the real objections, not price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chatbots don't know Roshan Digital Account rules, Power-of-Attorney process, or timezone-aware scheduling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agent is purpose-built for that one segment, not a generic property chatbot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layers, one LangGraph brain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68880"/>
            <a:ext cx="19659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(voice, simulated)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542032" y="2999232"/>
            <a:ext cx="292608" cy="320040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7" name="Shape 5"/>
          <p:cNvSpPr/>
          <p:nvPr/>
        </p:nvSpPr>
        <p:spPr>
          <a:xfrm>
            <a:off x="2788920" y="24688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2468880"/>
            <a:ext cx="19659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I/O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/ TTS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82312" y="2999232"/>
            <a:ext cx="292608" cy="320040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0" y="24688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2468880"/>
            <a:ext cx="19659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Brain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→ route → reply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022592" y="2999232"/>
            <a:ext cx="292608" cy="320040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3" name="Shape 11"/>
          <p:cNvSpPr/>
          <p:nvPr/>
        </p:nvSpPr>
        <p:spPr>
          <a:xfrm>
            <a:off x="7635240" y="24688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35240" y="2468880"/>
            <a:ext cx="19659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+ SQL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628632" y="2999232"/>
            <a:ext cx="292608" cy="320040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6" name="Shape 14"/>
          <p:cNvSpPr/>
          <p:nvPr/>
        </p:nvSpPr>
        <p:spPr>
          <a:xfrm>
            <a:off x="9875520" y="24688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0" y="2468880"/>
            <a:ext cx="19659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· Gmail · CRM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42976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box except “Caller” is real, runnable code in the notebook — only the phone line itself is simulated for this build.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Ahmed sounds like a real Pakistani sales executive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280160"/>
          </a:xfrm>
          <a:prstGeom prst="roundRect">
            <a:avLst>
              <a:gd name="adj" fmla="val 4286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10332720" cy="12801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“Ji bilkul sir, DHA Islamabad mein humare paas achay options hain jo aap ke budget mein fit ho jayen ge.”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10149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UrduLish code-switching — never a stiff translation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patient, persuasive — never pushy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Fillers used sparingly: “Hmm...”, “Ek second sir...”, “Acha...”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never invents data, never books without confirming every required field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ZERO-HALLUCINATION POLICY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fact is retrieved, never invented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facts: price, availability,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RDA eligibility, possession date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89120" y="19202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389120" y="28803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over FAQs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property descriptions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55280" y="19202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20/20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955280" y="28803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test questions built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from the property CSV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29768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facts (SQL) and fuzzy/descriptive content (vector search) are deliberately split — never guessed by the LLM.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MATCHING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ranked by what the client actually wants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332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 budget, city, bedrooms, RDA eligibility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purpose → ranked by rental yield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Own-use purpose → ranked by ready-to-move-in possession status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semantic search when structured filters return nothing — never a dead end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HANDLING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objections here are different from a local buyer's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332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“I've never seen this house” → shared NOC + developer registration, optional independent lawyer verification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“I'm too far away” → timezone-matched video walkthrough, Power-of-Attorney for signing on their behalf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I get my money back out?” → explained via Roshan Digital Account repatriation process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is empathetic first, fact-based second — never a hard sales push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CONVERSATION TO CALENDAR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triggers a full automation chain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377440"/>
            <a:ext cx="23774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/ email / time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44952" y="2907792"/>
            <a:ext cx="292608" cy="320040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7" name="Shape 5"/>
          <p:cNvSpPr/>
          <p:nvPr/>
        </p:nvSpPr>
        <p:spPr>
          <a:xfrm>
            <a:off x="3429000" y="237744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2377440"/>
            <a:ext cx="23774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+ Meet link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33872" y="2907792"/>
            <a:ext cx="292608" cy="320040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237744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377440"/>
            <a:ext cx="23774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notifies the RM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22792" y="2907792"/>
            <a:ext cx="292608" cy="320040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3" name="Shape 11"/>
          <p:cNvSpPr/>
          <p:nvPr/>
        </p:nvSpPr>
        <p:spPr>
          <a:xfrm>
            <a:off x="9006840" y="237744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06840" y="2377440"/>
            <a:ext cx="23774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log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+ appointment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2976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chain runs in reverse for rescheduling and cancellation — orchestrated end-to-end by an n8n workflow with automatic retries on failure.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TESTED, NOT JUST DEMOED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scripted test conversations across every required category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&amp; investment inquiries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inquiries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Returning-customer memory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/ reschedule / cancel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Off-topic requests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(8 cases)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 customer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/ empty caller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212080" cy="4206240"/>
          </a:xfrm>
          <a:prstGeom prst="roundRect">
            <a:avLst>
              <a:gd name="adj" fmla="val 1304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0" y="1965960"/>
            <a:ext cx="4663440" cy="37490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held: prompt-injection attempts are classified ‘unsafe’ and refused without leaking the system prompt.
</a:t>
            </a:r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numeric results (grounding rate, latency, LLM-judge naturalness scores) are auto-generated into EVALUATION_REPORT.md by running Section 6 of the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capstone to production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332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confirmations — the channel this audience actually lives on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telephony (Twilio) + Fish Audio for production-grade UrduLish TTS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FX rates, lead scoring, and full CRM integration (HubSpot / Salesforce)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PostgreSQL and a hosted vector DB once the knowledge base scales past a few hundred listings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7947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NRP_Voice_Agent_Capstone.ipynb · full documentation and evaluation suite included in the project handover.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2026-09-25T21:00:29Z</dcterms:created>
  <dcterms:modified xsi:type="dcterms:W3CDTF">2026-09-25T21:00:29Z</dcterms:modified>
</cp:coreProperties>
</file>